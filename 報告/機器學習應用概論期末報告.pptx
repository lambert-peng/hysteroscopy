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3" r:id="rId11"/>
    <p:sldId id="269" r:id="rId12"/>
    <p:sldId id="27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07" autoAdjust="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3ABE3-CEFC-4808-8CBB-6193FD5A2B60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C3321-B6E5-4013-B00A-CE5CFDEB77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78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高反光與光照不均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(Specular reflections &amp; Uneven lighting)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：單一點光源照明造成的強烈反光。</a:t>
            </a:r>
          </a:p>
          <a:p>
            <a:pPr lvl="0"/>
            <a:r>
              <a:rPr lang="zh-TW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黏膜紋理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(Mucosal texture)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：病灶與背景組織的顏色、紋理極為相似，邊界模糊。</a:t>
            </a:r>
          </a:p>
          <a:p>
            <a:pPr lvl="0"/>
            <a:r>
              <a:rPr lang="zh-TW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管腔結構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(Luminal structure)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：深邃的景深變化。</a:t>
            </a: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雖然</a:t>
            </a:r>
            <a:r>
              <a:rPr lang="en-US" altLang="zh-TW" dirty="0" err="1"/>
              <a:t>EndoViT</a:t>
            </a:r>
            <a:r>
              <a:rPr lang="zh-TW" altLang="en-US" dirty="0"/>
              <a:t>主要使用腹腔的內視鏡影像，但子宮頸影像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與腸胃鏡影像在生物特徵上具有高度相似性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皆為黏膜組織、皆有血管增生現象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。相比於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或一般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TW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EndoViT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對於</a:t>
            </a:r>
            <a:r>
              <a:rPr lang="zh-TW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子宮內膜癌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(Endometrial Cancer)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特有的微血管型態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(Vascular patterns) </a:t>
            </a:r>
            <a:r>
              <a:rPr lang="zh-TW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與表面潰爛特徵具有更強的特徵提取能力，能有效提升後續分類任務的準確度與收斂速度。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C3321-B6E5-4013-B00A-CE5CFDEB779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2881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C3321-B6E5-4013-B00A-CE5CFDEB779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8907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/>
              <a:t>Specifity</a:t>
            </a:r>
            <a:r>
              <a:rPr lang="en-US" altLang="zh-TW" dirty="0"/>
              <a:t>=0.9</a:t>
            </a:r>
            <a:r>
              <a:rPr lang="zh-TW" altLang="en-US" dirty="0"/>
              <a:t>切</a:t>
            </a:r>
            <a:r>
              <a:rPr lang="en-US" altLang="zh-TW" dirty="0"/>
              <a:t>threshold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CC3321-B6E5-4013-B00A-CE5CFDEB779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636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653A98-1975-FC60-C72F-0E0277A63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64B6A5F-94F9-3B6F-BBF7-3C531E4FA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11454C-62FB-3609-2F65-8C6186659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7526-83C9-4329-9341-BC57A0037EBC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38C3C9-137C-01D3-2D2A-C5C03039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DAC683-D589-2F3B-1463-BA962444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71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A258BD-B8D4-5C25-1B14-A5BDA424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BD38A-19A2-2DC0-1564-221D8836A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29D664-5F25-44E1-6AFC-55CB5A4F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EB137-B979-4108-BFC4-260E7FC55DE2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DE12E9-224B-9FDD-06EC-6DFD5EA1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5DD4FC-22F4-B87C-CF22-63125B47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98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EB25F5-E30E-37A5-91FB-1742DD21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AAA359-FDEC-1E25-947D-5917B1081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D9943F-DBF4-8EB4-E7F2-33452863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302B-F7DC-4DE3-B7B7-7560A6E61AA6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405756-B8CC-C617-F4EF-1B36B9B0A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4768E1-320D-5AB9-F4FD-9065D049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31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8B7B42-C8D0-B7FD-C91D-434E09C26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A56F56-F0D1-7637-B08A-B626D73B2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30F0E1-4080-905D-9EA5-B94A5EAD8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A7D2EE-95C1-5E08-574C-AFA1519E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67A5D-742E-4C5F-A810-5173DD20AA4F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1B69B4-917E-88BA-343E-9867A10F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3D676E-E948-2699-BD61-4F7A1089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10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656EA-ECBC-F28B-B355-05E22924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3EC2112-F402-CC74-2C5B-3BAA62546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F2DDD93-EB9D-A5C0-87E8-EC8F89CE3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44A992-D73D-2B55-EA5F-17B4E60C5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C231999-46A0-E928-C00A-01E9ED9C9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A4DB59D-AC11-1CB3-E07C-09EC928E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0B04F-46CC-407D-817F-74D02C622EA4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5B6EADD-7913-0AF1-A0AA-89C59A140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4600977-2DA5-93A6-61F6-53E7FAC7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02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1CF34E-E5AC-F15A-1535-6773F0380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9EF51EE-6859-A93A-CD0F-507910B8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9ACC-E5EC-4264-B16A-7B28F9D998E8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4090FF9-D10C-0F60-B72B-10DBE2A6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E7EC08F-4D67-480A-AA67-0A3010C5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105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BF0E6C0-901C-8A01-98E5-5C101F0B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88A3A-7932-453B-82D2-18434829F591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EDF11B0-47FE-FE3B-4126-450E7AFD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C6D98-E810-0D07-0965-AB59652F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6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FEF72A-A32E-0191-CA37-D41E62D9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07D6A4-FBB2-163A-3299-008571C58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E989CE-E4CA-5344-55C5-05AE8EBDF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BE94E8-6B2C-893B-BD4E-8EADEEC4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556DD-27D5-40CE-B233-9F9D37480B5D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ECA760-8385-79C8-E769-D0192C1A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347290D-F122-89E0-1600-C9407370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631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E7D209-832C-B6E5-7874-D8182C080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69B5105-A360-EEE5-F923-DD4F5D1E6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7DA27D-D374-6D7A-04F4-1B17E3E92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2BB1AC-30BB-C50A-8796-68AF0923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87DD4-C44F-42CC-B5B8-572781DEAE46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3C4AE6-3C98-B499-E353-B3CEA138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F54903-D0D8-1050-AA02-8AF7462F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951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B78323-8B85-78B7-26EB-7E00469C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0EF1FA-5603-F70C-3B10-12BBA9A7C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C58304-C00E-29BB-D637-B1353FA8B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949F-61E5-4078-B1D7-CBFC3FBD7535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DDFF47-A318-B7B7-7AD7-D86DB156E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97A6B4-97FF-AF91-36F5-8DBFA7C3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5072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008CB6D-0800-1088-CD2B-F710AA4F4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01724A1-E254-5253-141B-22530BF80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2B78E1-63BD-1C7A-6A1F-FDB03577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0C825-5696-451B-AF69-268047A17E2C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52FD0B-DC6C-E5ED-DBC0-D2FAFB7A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4B7C96-AD18-A0AB-4FF8-308CFBB5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0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FA6CB3-ED96-7873-1831-CC7E5107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AC5D98-AE07-87AC-3209-9C3554EB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B1874B-6379-A0D1-0691-A723C64F4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A22EC-A61A-448D-8265-5BCB677D12CD}" type="datetime1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289F9F-DA92-7DB4-7372-131B29D73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B6BAB6-B1AF-4473-1959-2D851229E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4695C-35A3-4DB7-9518-69FA4A9035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74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002CA4-D23C-4B9C-DF9C-9F9871F43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014408" cy="2387600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子宮鏡內膜病灶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AI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影像研究 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F7D937-3265-69F5-0F84-8A3B72E68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001"/>
            <a:ext cx="9144000" cy="1655762"/>
          </a:xfrm>
        </p:spPr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R14631015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彭仁柏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6311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58D5AD-5A10-8F5D-706C-073DD530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Dataset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9738CE-0BC4-3B23-B048-ED811F1DCF34}"/>
              </a:ext>
            </a:extLst>
          </p:cNvPr>
          <p:cNvSpPr txBox="1"/>
          <p:nvPr/>
        </p:nvSpPr>
        <p:spPr>
          <a:xfrm>
            <a:off x="838200" y="3742267"/>
            <a:ext cx="925790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影像大小不相同，所以統一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resize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成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224x224</a:t>
            </a:r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為應對資料不平均，影像增強時會將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training data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Suspected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和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Cancer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額外做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augmentation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並複製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Augmentation: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隨機水平、垂直翻轉、旋轉、明暗、對比、高斯雜訊</a:t>
            </a:r>
          </a:p>
          <a:p>
            <a:endParaRPr lang="zh-TW" altLang="en-US" dirty="0"/>
          </a:p>
        </p:txBody>
      </p:sp>
      <p:graphicFrame>
        <p:nvGraphicFramePr>
          <p:cNvPr id="16" name="表格 6">
            <a:extLst>
              <a:ext uri="{FF2B5EF4-FFF2-40B4-BE49-F238E27FC236}">
                <a16:creationId xmlns:a16="http://schemas.microsoft.com/office/drawing/2014/main" id="{8D783EEE-8589-742B-00AD-62A97A1BF5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2670819"/>
              </p:ext>
            </p:extLst>
          </p:nvPr>
        </p:nvGraphicFramePr>
        <p:xfrm>
          <a:off x="838200" y="1627357"/>
          <a:ext cx="8059380" cy="1899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084">
                  <a:extLst>
                    <a:ext uri="{9D8B030D-6E8A-4147-A177-3AD203B41FA5}">
                      <a16:colId xmlns:a16="http://schemas.microsoft.com/office/drawing/2014/main" val="4285134623"/>
                    </a:ext>
                  </a:extLst>
                </a:gridCol>
                <a:gridCol w="1530449">
                  <a:extLst>
                    <a:ext uri="{9D8B030D-6E8A-4147-A177-3AD203B41FA5}">
                      <a16:colId xmlns:a16="http://schemas.microsoft.com/office/drawing/2014/main" val="2736803465"/>
                    </a:ext>
                  </a:extLst>
                </a:gridCol>
                <a:gridCol w="1530449">
                  <a:extLst>
                    <a:ext uri="{9D8B030D-6E8A-4147-A177-3AD203B41FA5}">
                      <a16:colId xmlns:a16="http://schemas.microsoft.com/office/drawing/2014/main" val="1715029542"/>
                    </a:ext>
                  </a:extLst>
                </a:gridCol>
                <a:gridCol w="1507199">
                  <a:extLst>
                    <a:ext uri="{9D8B030D-6E8A-4147-A177-3AD203B41FA5}">
                      <a16:colId xmlns:a16="http://schemas.microsoft.com/office/drawing/2014/main" val="1695817733"/>
                    </a:ext>
                  </a:extLst>
                </a:gridCol>
                <a:gridCol w="1507199">
                  <a:extLst>
                    <a:ext uri="{9D8B030D-6E8A-4147-A177-3AD203B41FA5}">
                      <a16:colId xmlns:a16="http://schemas.microsoft.com/office/drawing/2014/main" val="3216795302"/>
                    </a:ext>
                  </a:extLst>
                </a:gridCol>
              </a:tblGrid>
              <a:tr h="308205">
                <a:tc>
                  <a:txBody>
                    <a:bodyPr/>
                    <a:lstStyle/>
                    <a:p>
                      <a:r>
                        <a:rPr lang="zh-TW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樣本人數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樣本人數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384088"/>
                  </a:ext>
                </a:extLst>
              </a:tr>
              <a:tr h="308205">
                <a:tc>
                  <a:txBody>
                    <a:bodyPr/>
                    <a:lstStyle/>
                    <a:p>
                      <a:r>
                        <a:rPr lang="en-US" altLang="zh-TW" dirty="0"/>
                        <a:t>A</a:t>
                      </a:r>
                      <a:r>
                        <a:rPr lang="zh-TW" altLang="en-US" dirty="0"/>
                        <a:t>   </a:t>
                      </a:r>
                      <a:r>
                        <a:rPr lang="en-US" altLang="zh-TW" dirty="0"/>
                        <a:t>Suspected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190 (760)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9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r>
                        <a:rPr lang="zh-TW" altLang="en-US" dirty="0"/>
                        <a:t>   </a:t>
                      </a:r>
                      <a:r>
                        <a:rPr lang="en-US" altLang="zh-TW" dirty="0"/>
                        <a:t>Normal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276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992546"/>
                  </a:ext>
                </a:extLst>
              </a:tr>
              <a:tr h="400948">
                <a:tc>
                  <a:txBody>
                    <a:bodyPr/>
                    <a:lstStyle/>
                    <a:p>
                      <a:r>
                        <a:rPr lang="en-US" altLang="zh-TW" dirty="0"/>
                        <a:t>C</a:t>
                      </a:r>
                      <a:r>
                        <a:rPr lang="zh-TW" altLang="en-US" dirty="0"/>
                        <a:t>   </a:t>
                      </a:r>
                      <a:r>
                        <a:rPr lang="en-US" altLang="zh-TW" dirty="0"/>
                        <a:t>Cancer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212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(848)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048034"/>
                  </a:ext>
                </a:extLst>
              </a:tr>
              <a:tr h="400948">
                <a:tc>
                  <a:txBody>
                    <a:bodyPr/>
                    <a:lstStyle/>
                    <a:p>
                      <a:r>
                        <a:rPr lang="en-US" altLang="zh-TW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1323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(2529)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376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349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64587"/>
                  </a:ext>
                </a:extLst>
              </a:tr>
            </a:tbl>
          </a:graphicData>
        </a:graphic>
      </p:graphicFrame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5D65903-B662-1C11-FA34-613C9335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39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DCD4A4-4AB7-51AA-169C-23D90832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EndoViT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E8D5F0-B689-3E27-E985-DC37F9881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EndoViT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dataset: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總共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743K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張影像，主要是腹腔鏡的公開資料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影像特徵較相似：</a:t>
            </a:r>
            <a:r>
              <a:rPr lang="zh-TW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高反光與光照不均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黏膜紋理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管腔結構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lvl="1" indent="0">
              <a:buNone/>
            </a:pP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Vision Transformer(</a:t>
            </a:r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ViT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架構，把一張圖片切成很多小區塊，像把一句話拆成單字一樣，然後用「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attention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」機制學習每個區塊之間的關係。</a:t>
            </a:r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EndoViT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輸出結果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[N(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影像數量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), 197, 768]  </a:t>
            </a: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197 = Patch 224*224/16*16 + 1 [CLS] token </a:t>
            </a:r>
          </a:p>
          <a:p>
            <a:pPr marL="0" indent="0">
              <a:buNone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 768 = embedding</a:t>
            </a:r>
          </a:p>
          <a:p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03406-656C-4385-EE2B-6746574A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819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7CDD38-80EB-45FB-EEBB-3C9632A00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E75C1E-FBF8-9480-AC9B-1955AA2A5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分類任務：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Binary(A+C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vs B) &amp; 3-Class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評估方式：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Instance-level(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單張影像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&amp;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Bag-level MIL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病人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輸入資料：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[CLS] Token &amp; Mean Pooling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模型結構：簡單模型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 Linear Layer &amp;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較複雜模型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MLP</a:t>
            </a:r>
          </a:p>
          <a:p>
            <a:pPr marL="0" indent="0">
              <a:buNone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Hierarchical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階層式架構三分類模型</a:t>
            </a:r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3A9ED402-92D6-5534-BF99-96A40CD0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84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BBADCF-1EBC-0496-C7CC-5BC292D4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Instance-level Evaluation</a:t>
            </a:r>
            <a:endParaRPr lang="zh-TW" altLang="en-US" dirty="0"/>
          </a:p>
        </p:txBody>
      </p:sp>
      <p:pic>
        <p:nvPicPr>
          <p:cNvPr id="21" name="內容版面配置區 20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D64EE2B9-11AA-3FBA-DEC1-E4FB5178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9" y="1863416"/>
            <a:ext cx="5801784" cy="4351338"/>
          </a:xfrm>
        </p:spPr>
      </p:pic>
      <p:pic>
        <p:nvPicPr>
          <p:cNvPr id="23" name="圖片 22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63296C1A-E24F-C1C7-5466-413B8A93C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419" y="1825625"/>
            <a:ext cx="5852172" cy="4389129"/>
          </a:xfrm>
          <a:prstGeom prst="rect">
            <a:avLst/>
          </a:prstGeom>
        </p:spPr>
      </p:pic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CAFB968C-8DC6-3942-97F2-CBC8BFAE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710E76-2F42-8E00-93C8-0B4ED4AA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Bag-level MIL Evaluation  (Binary)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7059EF04-3E00-10A4-2120-61A353AC4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1" t="5684" r="10387"/>
          <a:stretch>
            <a:fillRect/>
          </a:stretch>
        </p:blipFill>
        <p:spPr>
          <a:xfrm>
            <a:off x="330391" y="2214594"/>
            <a:ext cx="3815475" cy="3240000"/>
          </a:xfrm>
        </p:spPr>
      </p:pic>
      <p:pic>
        <p:nvPicPr>
          <p:cNvPr id="7" name="圖片 6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717207ED-FC6E-06C7-D6BB-349168482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3" t="6543" r="12764"/>
          <a:stretch>
            <a:fillRect/>
          </a:stretch>
        </p:blipFill>
        <p:spPr>
          <a:xfrm>
            <a:off x="4145866" y="2214594"/>
            <a:ext cx="3736932" cy="3240000"/>
          </a:xfrm>
          <a:prstGeom prst="rect">
            <a:avLst/>
          </a:prstGeom>
        </p:spPr>
      </p:pic>
      <p:pic>
        <p:nvPicPr>
          <p:cNvPr id="9" name="圖片 8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D5582C1A-FB52-BC65-2BC7-9040A4F9F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6" t="5509" r="11931"/>
          <a:stretch>
            <a:fillRect/>
          </a:stretch>
        </p:blipFill>
        <p:spPr>
          <a:xfrm>
            <a:off x="7882798" y="2214594"/>
            <a:ext cx="3763247" cy="3240000"/>
          </a:xfrm>
          <a:prstGeom prst="rect">
            <a:avLst/>
          </a:prstGeom>
        </p:spPr>
      </p:pic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0AAEE5FB-3E2B-165C-E5FD-AD08DE52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38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373E74-1036-9E68-9F5A-E0C0074C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[CLS] Token &amp; Mean Pooling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A0147772-7B97-D148-20A5-8725C666E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" t="6392" r="13713"/>
          <a:stretch>
            <a:fillRect/>
          </a:stretch>
        </p:blipFill>
        <p:spPr>
          <a:xfrm>
            <a:off x="1688210" y="1350000"/>
            <a:ext cx="3043124" cy="2700000"/>
          </a:xfrm>
        </p:spPr>
      </p:pic>
      <p:pic>
        <p:nvPicPr>
          <p:cNvPr id="11" name="圖片 10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02289DA8-BAD0-5C4F-B919-AAEA0A448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6" t="7650" r="12519"/>
          <a:stretch>
            <a:fillRect/>
          </a:stretch>
        </p:blipFill>
        <p:spPr>
          <a:xfrm>
            <a:off x="1642184" y="4158000"/>
            <a:ext cx="3158908" cy="2700000"/>
          </a:xfrm>
          <a:prstGeom prst="rect">
            <a:avLst/>
          </a:prstGeom>
        </p:spPr>
      </p:pic>
      <p:pic>
        <p:nvPicPr>
          <p:cNvPr id="13" name="圖片 12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3EF2BFF3-FD25-79C0-6A93-03F501375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5" t="7650" r="12410"/>
          <a:stretch>
            <a:fillRect/>
          </a:stretch>
        </p:blipFill>
        <p:spPr>
          <a:xfrm>
            <a:off x="4939645" y="4158000"/>
            <a:ext cx="3158908" cy="2700000"/>
          </a:xfrm>
          <a:prstGeom prst="rect">
            <a:avLst/>
          </a:prstGeom>
        </p:spPr>
      </p:pic>
      <p:pic>
        <p:nvPicPr>
          <p:cNvPr id="15" name="圖片 14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BB9888DA-D1B7-6803-4B8F-4E5A2101F4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4" t="7650" r="13059"/>
          <a:stretch>
            <a:fillRect/>
          </a:stretch>
        </p:blipFill>
        <p:spPr>
          <a:xfrm>
            <a:off x="8476029" y="4158000"/>
            <a:ext cx="3114531" cy="2700000"/>
          </a:xfrm>
          <a:prstGeom prst="rect">
            <a:avLst/>
          </a:prstGeom>
        </p:spPr>
      </p:pic>
      <p:pic>
        <p:nvPicPr>
          <p:cNvPr id="16" name="圖片 15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FCBF17F1-4A9D-6FBA-BB3B-292232007C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9" t="5548" r="12575"/>
          <a:stretch>
            <a:fillRect/>
          </a:stretch>
        </p:blipFill>
        <p:spPr>
          <a:xfrm>
            <a:off x="4998050" y="1329595"/>
            <a:ext cx="3100503" cy="2700000"/>
          </a:xfrm>
          <a:prstGeom prst="rect">
            <a:avLst/>
          </a:prstGeom>
        </p:spPr>
      </p:pic>
      <p:pic>
        <p:nvPicPr>
          <p:cNvPr id="17" name="圖片 16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84A3BFEC-CF23-6AE9-4BBD-71177BBA62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3" t="7198" r="11931"/>
          <a:stretch>
            <a:fillRect/>
          </a:stretch>
        </p:blipFill>
        <p:spPr>
          <a:xfrm>
            <a:off x="8464916" y="1389678"/>
            <a:ext cx="3155600" cy="270000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41685692-5F59-958C-1FA4-159E80C46294}"/>
              </a:ext>
            </a:extLst>
          </p:cNvPr>
          <p:cNvSpPr txBox="1"/>
          <p:nvPr/>
        </p:nvSpPr>
        <p:spPr>
          <a:xfrm>
            <a:off x="296879" y="2555012"/>
            <a:ext cx="1345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[CLS] Token</a:t>
            </a:r>
            <a:endParaRPr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9516DB9-5E9E-EA30-2E47-3CC5F447465F}"/>
              </a:ext>
            </a:extLst>
          </p:cNvPr>
          <p:cNvSpPr txBox="1"/>
          <p:nvPr/>
        </p:nvSpPr>
        <p:spPr>
          <a:xfrm>
            <a:off x="126063" y="5150081"/>
            <a:ext cx="1516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Mean Pooling</a:t>
            </a:r>
            <a:endParaRPr lang="zh-TW" altLang="en-US" dirty="0"/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511FB408-8962-708A-3583-8D68F25E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79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376564-77F9-CDAA-707D-7C3CBCE0D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 Linear Layer &amp;  2</a:t>
            </a:r>
            <a:r>
              <a:rPr lang="zh-TW" altLang="en-US" dirty="0"/>
              <a:t> </a:t>
            </a:r>
            <a:r>
              <a:rPr lang="en-US" altLang="zh-TW" dirty="0"/>
              <a:t>Block MLP</a:t>
            </a:r>
            <a:endParaRPr lang="zh-TW" altLang="en-US" dirty="0"/>
          </a:p>
        </p:txBody>
      </p:sp>
      <p:pic>
        <p:nvPicPr>
          <p:cNvPr id="11" name="內容版面配置區 10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72EB0C1C-C63D-AC23-D601-1248D9968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088" y="1985880"/>
            <a:ext cx="5801784" cy="4351338"/>
          </a:xfrm>
        </p:spPr>
      </p:pic>
      <p:pic>
        <p:nvPicPr>
          <p:cNvPr id="13" name="圖片 12" descr="一張含有 文字, 螢幕擷取畫面, 圖表, 數字 的圖片&#10;&#10;AI 產生的內容可能不正確。">
            <a:extLst>
              <a:ext uri="{FF2B5EF4-FFF2-40B4-BE49-F238E27FC236}">
                <a16:creationId xmlns:a16="http://schemas.microsoft.com/office/drawing/2014/main" id="{D87D76E9-AA51-D041-E62F-FADD5C135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84" y="1948089"/>
            <a:ext cx="5852172" cy="4389129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8A616061-0151-75A4-2A82-503E4AD71E43}"/>
              </a:ext>
            </a:extLst>
          </p:cNvPr>
          <p:cNvSpPr txBox="1"/>
          <p:nvPr/>
        </p:nvSpPr>
        <p:spPr>
          <a:xfrm>
            <a:off x="2339103" y="1690688"/>
            <a:ext cx="156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 Linear Layer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4303FC8-3F7B-4500-A06B-48630937EA75}"/>
              </a:ext>
            </a:extLst>
          </p:cNvPr>
          <p:cNvSpPr txBox="1"/>
          <p:nvPr/>
        </p:nvSpPr>
        <p:spPr>
          <a:xfrm>
            <a:off x="7924577" y="169068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Block MLP</a:t>
            </a:r>
            <a:endParaRPr lang="zh-TW" altLang="en-US" dirty="0"/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9AFB6571-87C4-52B3-7E08-13A6B74A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82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798B24-F3D0-AA59-6FF9-ACDEEEBE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 Linear Layer &amp;  2</a:t>
            </a:r>
            <a:r>
              <a:rPr lang="zh-TW" altLang="en-US" dirty="0"/>
              <a:t> </a:t>
            </a:r>
            <a:r>
              <a:rPr lang="en-US" altLang="zh-TW" dirty="0"/>
              <a:t>Block MLP</a:t>
            </a:r>
            <a:endParaRPr lang="zh-TW" altLang="en-US" dirty="0"/>
          </a:p>
        </p:txBody>
      </p:sp>
      <p:pic>
        <p:nvPicPr>
          <p:cNvPr id="5" name="內容版面配置區 4" descr="一張含有 文字, 行, 繪圖, 字型 的圖片&#10;&#10;AI 產生的內容可能不正確。">
            <a:extLst>
              <a:ext uri="{FF2B5EF4-FFF2-40B4-BE49-F238E27FC236}">
                <a16:creationId xmlns:a16="http://schemas.microsoft.com/office/drawing/2014/main" id="{D5F7264A-54FE-C609-D5DB-1CB1AB716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3" r="51130"/>
          <a:stretch>
            <a:fillRect/>
          </a:stretch>
        </p:blipFill>
        <p:spPr>
          <a:xfrm>
            <a:off x="6344590" y="2270569"/>
            <a:ext cx="3661840" cy="3600000"/>
          </a:xfrm>
        </p:spPr>
      </p:pic>
      <p:pic>
        <p:nvPicPr>
          <p:cNvPr id="7" name="圖片 6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F6CFC6A1-BDB2-A41C-5EF6-726F0A016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r="51120"/>
          <a:stretch>
            <a:fillRect/>
          </a:stretch>
        </p:blipFill>
        <p:spPr>
          <a:xfrm>
            <a:off x="1338606" y="2288354"/>
            <a:ext cx="3696095" cy="36000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7623A99-F2F2-FB6D-DD51-029AFD0D5AA8}"/>
              </a:ext>
            </a:extLst>
          </p:cNvPr>
          <p:cNvSpPr txBox="1"/>
          <p:nvPr/>
        </p:nvSpPr>
        <p:spPr>
          <a:xfrm>
            <a:off x="2989454" y="5703688"/>
            <a:ext cx="603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epoch</a:t>
            </a:r>
            <a:endParaRPr lang="zh-TW" altLang="en-US" sz="12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8BC3014-0358-E601-B5D6-55D8725EEFEF}"/>
              </a:ext>
            </a:extLst>
          </p:cNvPr>
          <p:cNvSpPr txBox="1"/>
          <p:nvPr/>
        </p:nvSpPr>
        <p:spPr>
          <a:xfrm>
            <a:off x="8175510" y="568590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epoch</a:t>
            </a:r>
            <a:endParaRPr lang="zh-TW" altLang="en-US" sz="12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155DFEF-09C4-F84F-CCA3-42937B0C9753}"/>
              </a:ext>
            </a:extLst>
          </p:cNvPr>
          <p:cNvSpPr txBox="1"/>
          <p:nvPr/>
        </p:nvSpPr>
        <p:spPr>
          <a:xfrm rot="16200000">
            <a:off x="6114399" y="3932069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loss</a:t>
            </a:r>
            <a:endParaRPr lang="zh-TW" altLang="en-US" sz="1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CFC9F65-E37C-D93C-DFEF-2C77341B6C2A}"/>
              </a:ext>
            </a:extLst>
          </p:cNvPr>
          <p:cNvSpPr txBox="1"/>
          <p:nvPr/>
        </p:nvSpPr>
        <p:spPr>
          <a:xfrm rot="16200000">
            <a:off x="969916" y="3949854"/>
            <a:ext cx="460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loss</a:t>
            </a:r>
            <a:endParaRPr lang="zh-TW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0178CD3-DF3F-6C34-99BD-393016922F5B}"/>
              </a:ext>
            </a:extLst>
          </p:cNvPr>
          <p:cNvSpPr txBox="1"/>
          <p:nvPr/>
        </p:nvSpPr>
        <p:spPr>
          <a:xfrm>
            <a:off x="2509996" y="1942852"/>
            <a:ext cx="156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 Linear Layer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D79228A-89FF-E586-06DD-BC030D9E6FA4}"/>
              </a:ext>
            </a:extLst>
          </p:cNvPr>
          <p:cNvSpPr txBox="1"/>
          <p:nvPr/>
        </p:nvSpPr>
        <p:spPr>
          <a:xfrm>
            <a:off x="7479646" y="1942852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Block MLP</a:t>
            </a:r>
            <a:endParaRPr lang="zh-TW" altLang="en-US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AC9769C6-72DF-B91E-3770-BF708D93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486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48447-34B1-1068-F3B6-B9B8C95F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Bag-level MIL Evaluation</a:t>
            </a:r>
            <a:r>
              <a:rPr lang="zh-TW" altLang="en-US" dirty="0"/>
              <a:t>   </a:t>
            </a:r>
            <a:r>
              <a:rPr lang="en-US" altLang="zh-TW" dirty="0"/>
              <a:t>(3</a:t>
            </a:r>
            <a:r>
              <a:rPr lang="zh-TW" altLang="en-US" dirty="0"/>
              <a:t> </a:t>
            </a:r>
            <a:r>
              <a:rPr lang="en-US" altLang="zh-TW" dirty="0"/>
              <a:t>Class)</a:t>
            </a:r>
            <a:endParaRPr lang="zh-TW" altLang="en-US" dirty="0"/>
          </a:p>
        </p:txBody>
      </p:sp>
      <p:pic>
        <p:nvPicPr>
          <p:cNvPr id="5" name="內容版面配置區 4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2B4B1BCE-1591-FCEE-32D1-BF87FCBA1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7" r="12087"/>
          <a:stretch>
            <a:fillRect/>
          </a:stretch>
        </p:blipFill>
        <p:spPr>
          <a:xfrm>
            <a:off x="611955" y="2136709"/>
            <a:ext cx="3463281" cy="3344400"/>
          </a:xfrm>
        </p:spPr>
      </p:pic>
      <p:pic>
        <p:nvPicPr>
          <p:cNvPr id="7" name="圖片 6" descr="一張含有 文字, 螢幕擷取畫面, 圖表, 正方形 的圖片&#10;&#10;AI 產生的內容可能不正確。">
            <a:extLst>
              <a:ext uri="{FF2B5EF4-FFF2-40B4-BE49-F238E27FC236}">
                <a16:creationId xmlns:a16="http://schemas.microsoft.com/office/drawing/2014/main" id="{CCEB73F6-CC04-F245-67A5-542768307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4" r="13058"/>
          <a:stretch>
            <a:fillRect/>
          </a:stretch>
        </p:blipFill>
        <p:spPr>
          <a:xfrm>
            <a:off x="4193368" y="2136709"/>
            <a:ext cx="3432143" cy="3343115"/>
          </a:xfrm>
          <a:prstGeom prst="rect">
            <a:avLst/>
          </a:prstGeom>
        </p:spPr>
      </p:pic>
      <p:pic>
        <p:nvPicPr>
          <p:cNvPr id="9" name="圖片 8" descr="一張含有 文字, 螢幕擷取畫面, 圖表, 正方形 的圖片&#10;&#10;AI 產生的內容可能不正確。">
            <a:extLst>
              <a:ext uri="{FF2B5EF4-FFF2-40B4-BE49-F238E27FC236}">
                <a16:creationId xmlns:a16="http://schemas.microsoft.com/office/drawing/2014/main" id="{AB9A7202-820E-0977-8290-FCAE2DC42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4" r="13058"/>
          <a:stretch>
            <a:fillRect/>
          </a:stretch>
        </p:blipFill>
        <p:spPr>
          <a:xfrm>
            <a:off x="7743643" y="2136709"/>
            <a:ext cx="3432142" cy="3343114"/>
          </a:xfrm>
          <a:prstGeom prst="rect">
            <a:avLst/>
          </a:prstGeom>
        </p:spPr>
      </p:pic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5FC2AA0A-FDBE-30AF-6490-DDF8CB04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581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6B5FA-FB53-AF62-6951-13E9365C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Hierarchical Learning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DD0475-2F58-E4D3-6FCA-7EB07CB14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A+C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vs B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結果的機率與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3-class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的機率直接運算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E257F-CE78-A743-9A43-BD1B87D1C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6" name="圖片 5" descr="一張含有 文字, 螢幕擷取畫面, 圖表, 正方形 的圖片&#10;&#10;AI 產生的內容可能不正確。">
            <a:extLst>
              <a:ext uri="{FF2B5EF4-FFF2-40B4-BE49-F238E27FC236}">
                <a16:creationId xmlns:a16="http://schemas.microsoft.com/office/drawing/2014/main" id="{2804D41E-11F7-45AA-D25E-08AD6AAEB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120" y="2576963"/>
            <a:ext cx="3796680" cy="3600000"/>
          </a:xfrm>
          <a:prstGeom prst="rect">
            <a:avLst/>
          </a:prstGeom>
        </p:spPr>
      </p:pic>
      <p:pic>
        <p:nvPicPr>
          <p:cNvPr id="8" name="圖片 7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EDAABE4F-41B3-F6C5-DB92-97A2DFB30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06" y="2576963"/>
            <a:ext cx="456499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29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44885-4E3A-B697-BC27-7B497FC10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14978DEC-33D4-195D-BA8E-CA88E892F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120" y="2576963"/>
            <a:ext cx="3796680" cy="3600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29F630A-94CC-D969-6DAF-CE4F21F5C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Hierarchical Learning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51975B-6B83-525F-16EC-3DEBEAA07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再訓練一個模型只區分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 vs 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，兩個模型都跑後運算機率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4A3087-CC73-8CE3-30DF-34E7F5747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4695C-35A3-4DB7-9518-69FA4A9035F8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9" name="圖片 8" descr="一張含有 文字, 行, 圖表, 繪圖 的圖片&#10;&#10;AI 產生的內容可能不正確。">
            <a:extLst>
              <a:ext uri="{FF2B5EF4-FFF2-40B4-BE49-F238E27FC236}">
                <a16:creationId xmlns:a16="http://schemas.microsoft.com/office/drawing/2014/main" id="{F7FAD2D0-F92F-4D57-3914-CFB46B872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005" y="2576962"/>
            <a:ext cx="4564995" cy="360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8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526</Words>
  <Application>Microsoft Office PowerPoint</Application>
  <PresentationFormat>寬螢幕</PresentationFormat>
  <Paragraphs>93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微軟正黑體</vt:lpstr>
      <vt:lpstr>Aptos</vt:lpstr>
      <vt:lpstr>Aptos Display</vt:lpstr>
      <vt:lpstr>Arial</vt:lpstr>
      <vt:lpstr>Office 佈景主題</vt:lpstr>
      <vt:lpstr>子宮鏡內膜病灶 AI 影像研究 </vt:lpstr>
      <vt:lpstr>Dataset</vt:lpstr>
      <vt:lpstr>EndoViT</vt:lpstr>
      <vt:lpstr>Experiment</vt:lpstr>
      <vt:lpstr>Instance-level Evaluation</vt:lpstr>
      <vt:lpstr>Bag-level MIL Evaluation  (Binary)</vt:lpstr>
      <vt:lpstr>[CLS] Token &amp; Mean Pooling</vt:lpstr>
      <vt:lpstr>1 Linear Layer &amp;  2 Block MLP</vt:lpstr>
      <vt:lpstr>1 Linear Layer &amp;  2 Block MLP</vt:lpstr>
      <vt:lpstr>Bag-level MIL Evaluation   (3 Class)</vt:lpstr>
      <vt:lpstr>Hierarchical Learning</vt:lpstr>
      <vt:lpstr>Hierarchical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彭仁柏</dc:creator>
  <cp:lastModifiedBy>彭仁柏</cp:lastModifiedBy>
  <cp:revision>7</cp:revision>
  <dcterms:created xsi:type="dcterms:W3CDTF">2025-12-10T17:16:51Z</dcterms:created>
  <dcterms:modified xsi:type="dcterms:W3CDTF">2025-12-27T07:26:16Z</dcterms:modified>
</cp:coreProperties>
</file>